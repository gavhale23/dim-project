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</p:sldMasterIdLst>
  <p:notesMasterIdLst>
    <p:notesMasterId r:id="rId12"/>
  </p:notesMasterIdLst>
  <p:sldIdLst>
    <p:sldId id="454" r:id="rId2"/>
    <p:sldId id="364" r:id="rId3"/>
    <p:sldId id="374" r:id="rId4"/>
    <p:sldId id="456" r:id="rId5"/>
    <p:sldId id="463" r:id="rId6"/>
    <p:sldId id="455" r:id="rId7"/>
    <p:sldId id="457" r:id="rId8"/>
    <p:sldId id="358" r:id="rId9"/>
    <p:sldId id="458" r:id="rId10"/>
    <p:sldId id="4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374D542-6E3E-455F-9BFB-B45891911720}">
          <p14:sldIdLst>
            <p14:sldId id="454"/>
            <p14:sldId id="364"/>
            <p14:sldId id="374"/>
            <p14:sldId id="456"/>
            <p14:sldId id="463"/>
            <p14:sldId id="455"/>
            <p14:sldId id="457"/>
            <p14:sldId id="358"/>
            <p14:sldId id="458"/>
            <p14:sldId id="4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00FFFF"/>
    <a:srgbClr val="FF5050"/>
    <a:srgbClr val="EF5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15" autoAdjust="0"/>
    <p:restoredTop sz="95320" autoAdjust="0"/>
  </p:normalViewPr>
  <p:slideViewPr>
    <p:cSldViewPr snapToGrid="0">
      <p:cViewPr varScale="1">
        <p:scale>
          <a:sx n="69" d="100"/>
          <a:sy n="69" d="100"/>
        </p:scale>
        <p:origin x="-43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89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Relationship Id="rId9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6.xml" 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6.xml" 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6.xml" 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6.xml" 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382" y="2505728"/>
            <a:ext cx="11673444" cy="760983"/>
          </a:xfrm>
        </p:spPr>
        <p:txBody>
          <a:bodyPr/>
          <a:lstStyle/>
          <a:p>
            <a:pPr algn="ctr"/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6FA85D-3B0A-4E0C-B8AC-042993910A93}"/>
              </a:ext>
            </a:extLst>
          </p:cNvPr>
          <p:cNvSpPr txBox="1">
            <a:spLocks/>
          </p:cNvSpPr>
          <p:nvPr/>
        </p:nvSpPr>
        <p:spPr>
          <a:xfrm>
            <a:off x="1608999" y="512309"/>
            <a:ext cx="8974000" cy="1964125"/>
          </a:xfrm>
          <a:prstGeom prst="rect">
            <a:avLst/>
          </a:prstGeom>
        </p:spPr>
        <p:txBody>
          <a:bodyPr anchor="t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 algn="ctr">
              <a:spcBef>
                <a:spcPts val="1000"/>
              </a:spcBef>
            </a:pPr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Sanjivani Rural Education Society’s</a:t>
            </a:r>
          </a:p>
          <a:p>
            <a:pPr algn="ctr">
              <a:spcBef>
                <a:spcPts val="1000"/>
              </a:spcBef>
            </a:pPr>
            <a:r>
              <a:rPr lang="en-US" sz="3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Sanjivani College of Engineering, Kopargaon-423603</a:t>
            </a:r>
          </a:p>
          <a:p>
            <a:pPr algn="ctr">
              <a:spcBef>
                <a:spcPts val="1000"/>
              </a:spcBef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(An Autonomous Institute Affiliated to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Savitribai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Phule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Pune University, Pune)</a:t>
            </a:r>
          </a:p>
          <a:p>
            <a:pPr algn="ctr">
              <a:spcBef>
                <a:spcPts val="1000"/>
              </a:spcBef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NAAC ‘A’ Grade Accredited, </a:t>
            </a:r>
          </a:p>
          <a:p>
            <a:pPr algn="ctr">
              <a:spcBef>
                <a:spcPts val="1000"/>
              </a:spcBef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Department of Information Technology</a:t>
            </a:r>
          </a:p>
          <a:p>
            <a:pPr algn="ctr">
              <a:spcBef>
                <a:spcPts val="1000"/>
              </a:spcBef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(NBA  Accredited)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945077-8362-4F96-9A3D-43F3721D6B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8374" y1="35444" x2="71545" y2="58222"/>
                        <a14:foregroundMark x1="50813" y1="32667" x2="34146" y2="53222"/>
                        <a14:foregroundMark x1="42547" y1="34667" x2="29133" y2="51222"/>
                        <a14:foregroundMark x1="45393" y1="34000" x2="39431" y2="58667"/>
                        <a14:foregroundMark x1="49864" y1="48778" x2="44309" y2="65556"/>
                        <a14:foregroundMark x1="58537" y1="50111" x2="58808" y2="64333"/>
                        <a14:foregroundMark x1="53523" y1="49222" x2="49458" y2="66333"/>
                        <a14:foregroundMark x1="54878" y1="60667" x2="51897" y2="66556"/>
                        <a14:foregroundMark x1="62466" y1="39667" x2="71409" y2="52000"/>
                        <a14:foregroundMark x1="34282" y1="56000" x2="39295" y2="61889"/>
                        <a14:foregroundMark x1="32385" y1="55556" x2="36992" y2="61222"/>
                        <a14:foregroundMark x1="36450" y1="56778" x2="37805" y2="61444"/>
                        <a14:foregroundMark x1="26829" y1="78222" x2="73306" y2="76667"/>
                        <a14:foregroundMark x1="26829" y1="74889" x2="60434" y2="70778"/>
                        <a14:foregroundMark x1="24797" y1="74778" x2="24797" y2="82556"/>
                        <a14:foregroundMark x1="22900" y1="76000" x2="21138" y2="78778"/>
                        <a14:foregroundMark x1="17886" y1="88889" x2="24255" y2="85444"/>
                        <a14:foregroundMark x1="27642" y1="83556" x2="35772" y2="82333"/>
                        <a14:foregroundMark x1="18022" y1="96556" x2="32520" y2="84000"/>
                        <a14:foregroundMark x1="10976" y1="91444" x2="18293" y2="87667"/>
                        <a14:foregroundMark x1="70732" y1="86556" x2="81436" y2="96667"/>
                        <a14:foregroundMark x1="74932" y1="85222" x2="84959" y2="93000"/>
                        <a14:foregroundMark x1="86450" y1="92667" x2="90108" y2="93222"/>
                        <a14:foregroundMark x1="71003" y1="72889" x2="77642" y2="81667"/>
                        <a14:foregroundMark x1="78049" y1="75222" x2="77371" y2="80778"/>
                        <a14:foregroundMark x1="16260" y1="87444" x2="16260" y2="86556"/>
                        <a14:foregroundMark x1="1084" y1="42222" x2="2304" y2="50556"/>
                        <a14:foregroundMark x1="2575" y1="4556" x2="1220" y2="42667"/>
                        <a14:foregroundMark x1="1491" y1="2333" x2="12466" y2="10111"/>
                        <a14:foregroundMark x1="18564" y1="10222" x2="37805" y2="7556"/>
                        <a14:foregroundMark x1="45122" y1="4889" x2="62060" y2="7222"/>
                        <a14:foregroundMark x1="73171" y1="9889" x2="89702" y2="9889"/>
                        <a14:foregroundMark x1="93089" y1="6889" x2="99322" y2="889"/>
                        <a14:foregroundMark x1="98238" y1="7556" x2="97967" y2="62889"/>
                        <a14:foregroundMark x1="89566" y1="76889" x2="96612" y2="66556"/>
                        <a14:foregroundMark x1="84011" y1="83000" x2="90108" y2="79556"/>
                        <a14:foregroundMark x1="70190" y1="85889" x2="66802" y2="84556"/>
                        <a14:foregroundMark x1="69106" y1="73222" x2="64092" y2="70667"/>
                        <a14:foregroundMark x1="57588" y1="69556" x2="47154" y2="69333"/>
                        <a14:foregroundMark x1="55285" y1="68333" x2="55285" y2="68778"/>
                        <a14:foregroundMark x1="31572" y1="93000" x2="49864" y2="99000"/>
                        <a14:foregroundMark x1="53794" y1="97889" x2="69512" y2="93222"/>
                        <a14:foregroundMark x1="1084" y1="54222" x2="3523" y2="64778"/>
                        <a14:foregroundMark x1="3930" y1="68778" x2="11518" y2="79000"/>
                        <a14:foregroundMark x1="14634" y1="81444" x2="17480" y2="84000"/>
                        <a14:foregroundMark x1="13279" y1="88778" x2="15447" y2="87667"/>
                        <a14:foregroundMark x1="9350" y1="92333" x2="9350" y2="92333"/>
                        <a14:foregroundMark x1="84959" y1="88889" x2="84959" y2="88889"/>
                        <a14:foregroundMark x1="87127" y1="90667" x2="87127" y2="90667"/>
                        <a14:foregroundMark x1="81301" y1="92000" x2="81301" y2="92000"/>
                        <a14:foregroundMark x1="81572" y1="94667" x2="81572" y2="94667"/>
                        <a14:foregroundMark x1="82385" y1="97222" x2="82385" y2="97222"/>
                        <a14:foregroundMark x1="80894" y1="97333" x2="80894" y2="97333"/>
                        <a14:foregroundMark x1="77642" y1="95000" x2="77642" y2="95000"/>
                        <a14:foregroundMark x1="22900" y1="93556" x2="22900" y2="93556"/>
                        <a14:foregroundMark x1="16125" y1="91000" x2="16125" y2="91000"/>
                        <a14:foregroundMark x1="17886" y1="93667" x2="17886" y2="93667"/>
                        <a14:foregroundMark x1="17209" y1="96889" x2="17209" y2="96889"/>
                        <a14:foregroundMark x1="12602" y1="91889" x2="12602" y2="91889"/>
                        <a14:backgroundMark x1="84417" y1="93000" x2="84417" y2="93000"/>
                        <a14:backgroundMark x1="86043" y1="94667" x2="84146" y2="92778"/>
                        <a14:backgroundMark x1="83062" y1="92667" x2="85366" y2="9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27" y="311004"/>
            <a:ext cx="1584601" cy="17811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390059" y="5582693"/>
            <a:ext cx="2363083" cy="8976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10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Barbind</a:t>
            </a:r>
          </a:p>
          <a:p>
            <a:pPr algn="ctr"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826950"/>
              </p:ext>
            </p:extLst>
          </p:nvPr>
        </p:nvGraphicFramePr>
        <p:xfrm>
          <a:off x="3387144" y="3168204"/>
          <a:ext cx="566670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2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388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Y 2024-2025 SEM-I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CIA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PART B PRESENTAION – I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80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Presented</a:t>
                      </a:r>
                      <a:r>
                        <a:rPr lang="en-US" sz="2400" b="1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by</a:t>
                      </a:r>
                      <a:endParaRPr lang="en-IN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1 (RN-XX)</a:t>
                      </a:r>
                    </a:p>
                    <a:p>
                      <a:pPr marL="457200" marR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2 (RN-XX)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400" b="1" dirty="0" err="1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Bbbb</a:t>
                      </a:r>
                      <a:endParaRPr lang="en-US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400" b="1" dirty="0" err="1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Dddd</a:t>
                      </a:r>
                      <a:endParaRPr lang="en-US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400" b="1" dirty="0" err="1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Eeee</a:t>
                      </a:r>
                      <a:endParaRPr lang="en-US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400" b="1" dirty="0" err="1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Dddd</a:t>
                      </a:r>
                      <a:endParaRPr lang="en-US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400" b="1" dirty="0" err="1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Ddddd</a:t>
                      </a:r>
                      <a:endParaRPr lang="en-IN" sz="24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364785" y="4516669"/>
            <a:ext cx="1750203" cy="103735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364167" y="3529829"/>
            <a:ext cx="1750822" cy="98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03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325" y="282600"/>
            <a:ext cx="10624293" cy="9391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Internal Assessment Part B Presentation</a:t>
            </a:r>
          </a:p>
        </p:txBody>
      </p:sp>
      <p:sp>
        <p:nvSpPr>
          <p:cNvPr id="12" name="TextBox 2D 2">
            <a:extLst>
              <a:ext uri="{FF2B5EF4-FFF2-40B4-BE49-F238E27FC236}">
                <a16:creationId xmlns:a16="http://schemas.microsoft.com/office/drawing/2014/main" id="{37B18C6E-3C31-4549-ACEE-1E1E3FC41BCC}"/>
              </a:ext>
            </a:extLst>
          </p:cNvPr>
          <p:cNvSpPr txBox="1"/>
          <p:nvPr/>
        </p:nvSpPr>
        <p:spPr>
          <a:xfrm>
            <a:off x="351256" y="1332752"/>
            <a:ext cx="115633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447675" indent="-3429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47675" indent="-3429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Need/Usefulness of Proposed Digital System</a:t>
            </a:r>
          </a:p>
          <a:p>
            <a:pPr marL="447675" indent="-3429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Description using Black Box View &amp; or Layout</a:t>
            </a:r>
          </a:p>
          <a:p>
            <a:pPr marL="447675" indent="-3429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&amp; Output Description</a:t>
            </a:r>
          </a:p>
          <a:p>
            <a:pPr marL="447675" indent="-3429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Table(s) of Proposed System(Truth Table)</a:t>
            </a:r>
          </a:p>
          <a:p>
            <a:pPr marL="447675" indent="-3429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of Proposed System</a:t>
            </a:r>
          </a:p>
          <a:p>
            <a:pPr marL="447675" indent="-3429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Results/Snaps of Simulation</a:t>
            </a:r>
          </a:p>
          <a:p>
            <a:pPr marL="447675" indent="-3429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47675" indent="-3429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E59B3C-7FAE-43E5-BC18-270DFA54F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48374" y1="35444" x2="71545" y2="58222"/>
                        <a14:foregroundMark x1="50813" y1="32667" x2="34146" y2="53222"/>
                        <a14:foregroundMark x1="42547" y1="34667" x2="29133" y2="51222"/>
                        <a14:foregroundMark x1="45393" y1="34000" x2="39431" y2="58667"/>
                        <a14:foregroundMark x1="49864" y1="48778" x2="44309" y2="65556"/>
                        <a14:foregroundMark x1="58537" y1="50111" x2="58808" y2="64333"/>
                        <a14:foregroundMark x1="53523" y1="49222" x2="49458" y2="66333"/>
                        <a14:foregroundMark x1="54878" y1="60667" x2="51897" y2="66556"/>
                        <a14:foregroundMark x1="62466" y1="39667" x2="71409" y2="52000"/>
                        <a14:foregroundMark x1="34282" y1="56000" x2="39295" y2="61889"/>
                        <a14:foregroundMark x1="32385" y1="55556" x2="36992" y2="61222"/>
                        <a14:foregroundMark x1="36450" y1="56778" x2="37805" y2="61444"/>
                        <a14:foregroundMark x1="26829" y1="78222" x2="73306" y2="76667"/>
                        <a14:foregroundMark x1="26829" y1="74889" x2="60434" y2="70778"/>
                        <a14:foregroundMark x1="24797" y1="74778" x2="24797" y2="82556"/>
                        <a14:foregroundMark x1="22900" y1="76000" x2="21138" y2="78778"/>
                        <a14:foregroundMark x1="17886" y1="88889" x2="24255" y2="85444"/>
                        <a14:foregroundMark x1="27642" y1="83556" x2="35772" y2="82333"/>
                        <a14:foregroundMark x1="18022" y1="96556" x2="32520" y2="84000"/>
                        <a14:foregroundMark x1="10976" y1="91444" x2="18293" y2="87667"/>
                        <a14:foregroundMark x1="70732" y1="86556" x2="81436" y2="96667"/>
                        <a14:foregroundMark x1="74932" y1="85222" x2="84959" y2="93000"/>
                        <a14:foregroundMark x1="86450" y1="92667" x2="90108" y2="93222"/>
                        <a14:foregroundMark x1="71003" y1="72889" x2="77642" y2="81667"/>
                        <a14:foregroundMark x1="78049" y1="75222" x2="77371" y2="80778"/>
                        <a14:foregroundMark x1="16260" y1="87444" x2="16260" y2="86556"/>
                        <a14:foregroundMark x1="1084" y1="42222" x2="2304" y2="50556"/>
                        <a14:foregroundMark x1="2575" y1="4556" x2="1220" y2="42667"/>
                        <a14:foregroundMark x1="1491" y1="2333" x2="12466" y2="10111"/>
                        <a14:foregroundMark x1="18564" y1="10222" x2="37805" y2="7556"/>
                        <a14:foregroundMark x1="45122" y1="4889" x2="62060" y2="7222"/>
                        <a14:foregroundMark x1="73171" y1="9889" x2="89702" y2="9889"/>
                        <a14:foregroundMark x1="93089" y1="6889" x2="99322" y2="889"/>
                        <a14:foregroundMark x1="98238" y1="7556" x2="97967" y2="62889"/>
                        <a14:foregroundMark x1="89566" y1="76889" x2="96612" y2="66556"/>
                        <a14:foregroundMark x1="84011" y1="83000" x2="90108" y2="79556"/>
                        <a14:foregroundMark x1="70190" y1="85889" x2="66802" y2="84556"/>
                        <a14:foregroundMark x1="69106" y1="73222" x2="64092" y2="70667"/>
                        <a14:foregroundMark x1="57588" y1="69556" x2="47154" y2="69333"/>
                        <a14:foregroundMark x1="55285" y1="68333" x2="55285" y2="68778"/>
                        <a14:foregroundMark x1="31572" y1="93000" x2="49864" y2="99000"/>
                        <a14:foregroundMark x1="53794" y1="97889" x2="69512" y2="93222"/>
                        <a14:foregroundMark x1="1084" y1="54222" x2="3523" y2="64778"/>
                        <a14:foregroundMark x1="3930" y1="68778" x2="11518" y2="79000"/>
                        <a14:foregroundMark x1="14634" y1="81444" x2="17480" y2="84000"/>
                        <a14:foregroundMark x1="13279" y1="88778" x2="15447" y2="87667"/>
                        <a14:foregroundMark x1="9350" y1="92333" x2="9350" y2="92333"/>
                        <a14:foregroundMark x1="84959" y1="88889" x2="84959" y2="88889"/>
                        <a14:foregroundMark x1="87127" y1="90667" x2="87127" y2="90667"/>
                        <a14:foregroundMark x1="81301" y1="92000" x2="81301" y2="92000"/>
                        <a14:foregroundMark x1="81572" y1="94667" x2="81572" y2="94667"/>
                        <a14:foregroundMark x1="82385" y1="97222" x2="82385" y2="97222"/>
                        <a14:foregroundMark x1="80894" y1="97333" x2="80894" y2="97333"/>
                        <a14:foregroundMark x1="77642" y1="95000" x2="77642" y2="95000"/>
                        <a14:foregroundMark x1="22900" y1="93556" x2="22900" y2="93556"/>
                        <a14:foregroundMark x1="16125" y1="91000" x2="16125" y2="91000"/>
                        <a14:foregroundMark x1="17886" y1="93667" x2="17886" y2="93667"/>
                        <a14:foregroundMark x1="17209" y1="96889" x2="17209" y2="96889"/>
                        <a14:foregroundMark x1="12602" y1="91889" x2="12602" y2="91889"/>
                        <a14:backgroundMark x1="84417" y1="93000" x2="84417" y2="93000"/>
                        <a14:backgroundMark x1="86043" y1="94667" x2="84146" y2="92778"/>
                        <a14:backgroundMark x1="83062" y1="92667" x2="85366" y2="9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" y="101181"/>
            <a:ext cx="934278" cy="105015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B1459D1-3E2F-4D2E-BF16-F4A76CD96325}"/>
              </a:ext>
            </a:extLst>
          </p:cNvPr>
          <p:cNvSpPr/>
          <p:nvPr/>
        </p:nvSpPr>
        <p:spPr>
          <a:xfrm>
            <a:off x="0" y="0"/>
            <a:ext cx="274320" cy="6857999"/>
          </a:xfrm>
          <a:prstGeom prst="rect">
            <a:avLst/>
          </a:prstGeom>
          <a:solidFill>
            <a:srgbClr val="FF505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5E2C1AD-5C2F-4FD9-9554-551E8B5E0C62}"/>
              </a:ext>
            </a:extLst>
          </p:cNvPr>
          <p:cNvSpPr txBox="1">
            <a:spLocks/>
          </p:cNvSpPr>
          <p:nvPr/>
        </p:nvSpPr>
        <p:spPr>
          <a:xfrm>
            <a:off x="274320" y="6575400"/>
            <a:ext cx="11917680" cy="2826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400" b="1" dirty="0">
                <a:solidFill>
                  <a:srgbClr val="92278F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Logic  Design – CIA PART  B  Presentation                                             Guided  by Mr. A. A. Barbind             Department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595368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326" y="282600"/>
            <a:ext cx="10594632" cy="93913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E59B3C-7FAE-43E5-BC18-270DFA54F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48374" y1="35444" x2="71545" y2="58222"/>
                        <a14:foregroundMark x1="50813" y1="32667" x2="34146" y2="53222"/>
                        <a14:foregroundMark x1="42547" y1="34667" x2="29133" y2="51222"/>
                        <a14:foregroundMark x1="45393" y1="34000" x2="39431" y2="58667"/>
                        <a14:foregroundMark x1="49864" y1="48778" x2="44309" y2="65556"/>
                        <a14:foregroundMark x1="58537" y1="50111" x2="58808" y2="64333"/>
                        <a14:foregroundMark x1="53523" y1="49222" x2="49458" y2="66333"/>
                        <a14:foregroundMark x1="54878" y1="60667" x2="51897" y2="66556"/>
                        <a14:foregroundMark x1="62466" y1="39667" x2="71409" y2="52000"/>
                        <a14:foregroundMark x1="34282" y1="56000" x2="39295" y2="61889"/>
                        <a14:foregroundMark x1="32385" y1="55556" x2="36992" y2="61222"/>
                        <a14:foregroundMark x1="36450" y1="56778" x2="37805" y2="61444"/>
                        <a14:foregroundMark x1="26829" y1="78222" x2="73306" y2="76667"/>
                        <a14:foregroundMark x1="26829" y1="74889" x2="60434" y2="70778"/>
                        <a14:foregroundMark x1="24797" y1="74778" x2="24797" y2="82556"/>
                        <a14:foregroundMark x1="22900" y1="76000" x2="21138" y2="78778"/>
                        <a14:foregroundMark x1="17886" y1="88889" x2="24255" y2="85444"/>
                        <a14:foregroundMark x1="27642" y1="83556" x2="35772" y2="82333"/>
                        <a14:foregroundMark x1="18022" y1="96556" x2="32520" y2="84000"/>
                        <a14:foregroundMark x1="10976" y1="91444" x2="18293" y2="87667"/>
                        <a14:foregroundMark x1="70732" y1="86556" x2="81436" y2="96667"/>
                        <a14:foregroundMark x1="74932" y1="85222" x2="84959" y2="93000"/>
                        <a14:foregroundMark x1="86450" y1="92667" x2="90108" y2="93222"/>
                        <a14:foregroundMark x1="71003" y1="72889" x2="77642" y2="81667"/>
                        <a14:foregroundMark x1="78049" y1="75222" x2="77371" y2="80778"/>
                        <a14:foregroundMark x1="16260" y1="87444" x2="16260" y2="86556"/>
                        <a14:foregroundMark x1="1084" y1="42222" x2="2304" y2="50556"/>
                        <a14:foregroundMark x1="2575" y1="4556" x2="1220" y2="42667"/>
                        <a14:foregroundMark x1="1491" y1="2333" x2="12466" y2="10111"/>
                        <a14:foregroundMark x1="18564" y1="10222" x2="37805" y2="7556"/>
                        <a14:foregroundMark x1="45122" y1="4889" x2="62060" y2="7222"/>
                        <a14:foregroundMark x1="73171" y1="9889" x2="89702" y2="9889"/>
                        <a14:foregroundMark x1="93089" y1="6889" x2="99322" y2="889"/>
                        <a14:foregroundMark x1="98238" y1="7556" x2="97967" y2="62889"/>
                        <a14:foregroundMark x1="89566" y1="76889" x2="96612" y2="66556"/>
                        <a14:foregroundMark x1="84011" y1="83000" x2="90108" y2="79556"/>
                        <a14:foregroundMark x1="70190" y1="85889" x2="66802" y2="84556"/>
                        <a14:foregroundMark x1="69106" y1="73222" x2="64092" y2="70667"/>
                        <a14:foregroundMark x1="57588" y1="69556" x2="47154" y2="69333"/>
                        <a14:foregroundMark x1="55285" y1="68333" x2="55285" y2="68778"/>
                        <a14:foregroundMark x1="31572" y1="93000" x2="49864" y2="99000"/>
                        <a14:foregroundMark x1="53794" y1="97889" x2="69512" y2="93222"/>
                        <a14:foregroundMark x1="1084" y1="54222" x2="3523" y2="64778"/>
                        <a14:foregroundMark x1="3930" y1="68778" x2="11518" y2="79000"/>
                        <a14:foregroundMark x1="14634" y1="81444" x2="17480" y2="84000"/>
                        <a14:foregroundMark x1="13279" y1="88778" x2="15447" y2="87667"/>
                        <a14:foregroundMark x1="9350" y1="92333" x2="9350" y2="92333"/>
                        <a14:foregroundMark x1="84959" y1="88889" x2="84959" y2="88889"/>
                        <a14:foregroundMark x1="87127" y1="90667" x2="87127" y2="90667"/>
                        <a14:foregroundMark x1="81301" y1="92000" x2="81301" y2="92000"/>
                        <a14:foregroundMark x1="81572" y1="94667" x2="81572" y2="94667"/>
                        <a14:foregroundMark x1="82385" y1="97222" x2="82385" y2="97222"/>
                        <a14:foregroundMark x1="80894" y1="97333" x2="80894" y2="97333"/>
                        <a14:foregroundMark x1="77642" y1="95000" x2="77642" y2="95000"/>
                        <a14:foregroundMark x1="22900" y1="93556" x2="22900" y2="93556"/>
                        <a14:foregroundMark x1="16125" y1="91000" x2="16125" y2="91000"/>
                        <a14:foregroundMark x1="17886" y1="93667" x2="17886" y2="93667"/>
                        <a14:foregroundMark x1="17209" y1="96889" x2="17209" y2="96889"/>
                        <a14:foregroundMark x1="12602" y1="91889" x2="12602" y2="91889"/>
                        <a14:backgroundMark x1="84417" y1="93000" x2="84417" y2="93000"/>
                        <a14:backgroundMark x1="86043" y1="94667" x2="84146" y2="92778"/>
                        <a14:backgroundMark x1="83062" y1="92667" x2="85366" y2="9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" y="101181"/>
            <a:ext cx="934278" cy="105015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B1459D1-3E2F-4D2E-BF16-F4A76CD96325}"/>
              </a:ext>
            </a:extLst>
          </p:cNvPr>
          <p:cNvSpPr/>
          <p:nvPr/>
        </p:nvSpPr>
        <p:spPr>
          <a:xfrm>
            <a:off x="0" y="0"/>
            <a:ext cx="274320" cy="6857999"/>
          </a:xfrm>
          <a:prstGeom prst="rect">
            <a:avLst/>
          </a:prstGeom>
          <a:solidFill>
            <a:srgbClr val="FF505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13" name="TextBox 2D 2">
            <a:extLst>
              <a:ext uri="{FF2B5EF4-FFF2-40B4-BE49-F238E27FC236}">
                <a16:creationId xmlns:a16="http://schemas.microsoft.com/office/drawing/2014/main" id="{37B18C6E-3C31-4549-ACEE-1E1E3FC41BCC}"/>
              </a:ext>
            </a:extLst>
          </p:cNvPr>
          <p:cNvSpPr txBox="1"/>
          <p:nvPr/>
        </p:nvSpPr>
        <p:spPr>
          <a:xfrm>
            <a:off x="338377" y="1216842"/>
            <a:ext cx="11563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447675" indent="-3429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&lt;Give your problem statement here&gt;</a:t>
            </a:r>
            <a:endParaRPr lang="en-IN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5E2C1AD-5C2F-4FD9-9554-551E8B5E0C62}"/>
              </a:ext>
            </a:extLst>
          </p:cNvPr>
          <p:cNvSpPr txBox="1">
            <a:spLocks/>
          </p:cNvSpPr>
          <p:nvPr/>
        </p:nvSpPr>
        <p:spPr>
          <a:xfrm>
            <a:off x="274320" y="6575400"/>
            <a:ext cx="11917680" cy="2826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400" b="1" dirty="0">
                <a:solidFill>
                  <a:srgbClr val="92278F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Logic  Design – CIA PART  B  Presentation                                             Guided  by Mr. A. A. Barbind             Department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735482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326" y="282600"/>
            <a:ext cx="10594632" cy="939132"/>
          </a:xfrm>
        </p:spPr>
        <p:txBody>
          <a:bodyPr>
            <a:normAutofit/>
          </a:bodyPr>
          <a:lstStyle/>
          <a:p>
            <a:r>
              <a:rPr sz="4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Need/Usefulness of Proposed Digital System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E59B3C-7FAE-43E5-BC18-270DFA54F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48374" y1="35444" x2="71545" y2="58222"/>
                        <a14:foregroundMark x1="50813" y1="32667" x2="34146" y2="53222"/>
                        <a14:foregroundMark x1="42547" y1="34667" x2="29133" y2="51222"/>
                        <a14:foregroundMark x1="45393" y1="34000" x2="39431" y2="58667"/>
                        <a14:foregroundMark x1="49864" y1="48778" x2="44309" y2="65556"/>
                        <a14:foregroundMark x1="58537" y1="50111" x2="58808" y2="64333"/>
                        <a14:foregroundMark x1="53523" y1="49222" x2="49458" y2="66333"/>
                        <a14:foregroundMark x1="54878" y1="60667" x2="51897" y2="66556"/>
                        <a14:foregroundMark x1="62466" y1="39667" x2="71409" y2="52000"/>
                        <a14:foregroundMark x1="34282" y1="56000" x2="39295" y2="61889"/>
                        <a14:foregroundMark x1="32385" y1="55556" x2="36992" y2="61222"/>
                        <a14:foregroundMark x1="36450" y1="56778" x2="37805" y2="61444"/>
                        <a14:foregroundMark x1="26829" y1="78222" x2="73306" y2="76667"/>
                        <a14:foregroundMark x1="26829" y1="74889" x2="60434" y2="70778"/>
                        <a14:foregroundMark x1="24797" y1="74778" x2="24797" y2="82556"/>
                        <a14:foregroundMark x1="22900" y1="76000" x2="21138" y2="78778"/>
                        <a14:foregroundMark x1="17886" y1="88889" x2="24255" y2="85444"/>
                        <a14:foregroundMark x1="27642" y1="83556" x2="35772" y2="82333"/>
                        <a14:foregroundMark x1="18022" y1="96556" x2="32520" y2="84000"/>
                        <a14:foregroundMark x1="10976" y1="91444" x2="18293" y2="87667"/>
                        <a14:foregroundMark x1="70732" y1="86556" x2="81436" y2="96667"/>
                        <a14:foregroundMark x1="74932" y1="85222" x2="84959" y2="93000"/>
                        <a14:foregroundMark x1="86450" y1="92667" x2="90108" y2="93222"/>
                        <a14:foregroundMark x1="71003" y1="72889" x2="77642" y2="81667"/>
                        <a14:foregroundMark x1="78049" y1="75222" x2="77371" y2="80778"/>
                        <a14:foregroundMark x1="16260" y1="87444" x2="16260" y2="86556"/>
                        <a14:foregroundMark x1="1084" y1="42222" x2="2304" y2="50556"/>
                        <a14:foregroundMark x1="2575" y1="4556" x2="1220" y2="42667"/>
                        <a14:foregroundMark x1="1491" y1="2333" x2="12466" y2="10111"/>
                        <a14:foregroundMark x1="18564" y1="10222" x2="37805" y2="7556"/>
                        <a14:foregroundMark x1="45122" y1="4889" x2="62060" y2="7222"/>
                        <a14:foregroundMark x1="73171" y1="9889" x2="89702" y2="9889"/>
                        <a14:foregroundMark x1="93089" y1="6889" x2="99322" y2="889"/>
                        <a14:foregroundMark x1="98238" y1="7556" x2="97967" y2="62889"/>
                        <a14:foregroundMark x1="89566" y1="76889" x2="96612" y2="66556"/>
                        <a14:foregroundMark x1="84011" y1="83000" x2="90108" y2="79556"/>
                        <a14:foregroundMark x1="70190" y1="85889" x2="66802" y2="84556"/>
                        <a14:foregroundMark x1="69106" y1="73222" x2="64092" y2="70667"/>
                        <a14:foregroundMark x1="57588" y1="69556" x2="47154" y2="69333"/>
                        <a14:foregroundMark x1="55285" y1="68333" x2="55285" y2="68778"/>
                        <a14:foregroundMark x1="31572" y1="93000" x2="49864" y2="99000"/>
                        <a14:foregroundMark x1="53794" y1="97889" x2="69512" y2="93222"/>
                        <a14:foregroundMark x1="1084" y1="54222" x2="3523" y2="64778"/>
                        <a14:foregroundMark x1="3930" y1="68778" x2="11518" y2="79000"/>
                        <a14:foregroundMark x1="14634" y1="81444" x2="17480" y2="84000"/>
                        <a14:foregroundMark x1="13279" y1="88778" x2="15447" y2="87667"/>
                        <a14:foregroundMark x1="9350" y1="92333" x2="9350" y2="92333"/>
                        <a14:foregroundMark x1="84959" y1="88889" x2="84959" y2="88889"/>
                        <a14:foregroundMark x1="87127" y1="90667" x2="87127" y2="90667"/>
                        <a14:foregroundMark x1="81301" y1="92000" x2="81301" y2="92000"/>
                        <a14:foregroundMark x1="81572" y1="94667" x2="81572" y2="94667"/>
                        <a14:foregroundMark x1="82385" y1="97222" x2="82385" y2="97222"/>
                        <a14:foregroundMark x1="80894" y1="97333" x2="80894" y2="97333"/>
                        <a14:foregroundMark x1="77642" y1="95000" x2="77642" y2="95000"/>
                        <a14:foregroundMark x1="22900" y1="93556" x2="22900" y2="93556"/>
                        <a14:foregroundMark x1="16125" y1="91000" x2="16125" y2="91000"/>
                        <a14:foregroundMark x1="17886" y1="93667" x2="17886" y2="93667"/>
                        <a14:foregroundMark x1="17209" y1="96889" x2="17209" y2="96889"/>
                        <a14:foregroundMark x1="12602" y1="91889" x2="12602" y2="91889"/>
                        <a14:backgroundMark x1="84417" y1="93000" x2="84417" y2="93000"/>
                        <a14:backgroundMark x1="86043" y1="94667" x2="84146" y2="92778"/>
                        <a14:backgroundMark x1="83062" y1="92667" x2="85366" y2="9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" y="101181"/>
            <a:ext cx="934278" cy="105015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B1459D1-3E2F-4D2E-BF16-F4A76CD96325}"/>
              </a:ext>
            </a:extLst>
          </p:cNvPr>
          <p:cNvSpPr/>
          <p:nvPr/>
        </p:nvSpPr>
        <p:spPr>
          <a:xfrm>
            <a:off x="0" y="0"/>
            <a:ext cx="274320" cy="6857999"/>
          </a:xfrm>
          <a:prstGeom prst="rect">
            <a:avLst/>
          </a:prstGeom>
          <a:solidFill>
            <a:srgbClr val="FF505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13" name="TextBox 2D 2">
            <a:extLst>
              <a:ext uri="{FF2B5EF4-FFF2-40B4-BE49-F238E27FC236}">
                <a16:creationId xmlns:a16="http://schemas.microsoft.com/office/drawing/2014/main" id="{37B18C6E-3C31-4549-ACEE-1E1E3FC41BCC}"/>
              </a:ext>
            </a:extLst>
          </p:cNvPr>
          <p:cNvSpPr txBox="1"/>
          <p:nvPr/>
        </p:nvSpPr>
        <p:spPr>
          <a:xfrm>
            <a:off x="338377" y="1216842"/>
            <a:ext cx="11563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447675" indent="-3429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&lt;Need/Usefulness&gt;</a:t>
            </a:r>
            <a:endParaRPr lang="en-IN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5E2C1AD-5C2F-4FD9-9554-551E8B5E0C62}"/>
              </a:ext>
            </a:extLst>
          </p:cNvPr>
          <p:cNvSpPr txBox="1">
            <a:spLocks/>
          </p:cNvSpPr>
          <p:nvPr/>
        </p:nvSpPr>
        <p:spPr>
          <a:xfrm>
            <a:off x="274320" y="6575400"/>
            <a:ext cx="11917680" cy="2826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400" b="1" dirty="0">
                <a:solidFill>
                  <a:srgbClr val="92278F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Logic  Design – CIA PART  B  Presentation                                             Guided  by Mr. A. A. Barbind             Department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23884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326" y="282600"/>
            <a:ext cx="10594632" cy="939132"/>
          </a:xfrm>
        </p:spPr>
        <p:txBody>
          <a:bodyPr>
            <a:normAutofit fontScale="90000"/>
          </a:bodyPr>
          <a:lstStyle/>
          <a:p>
            <a:r>
              <a:rPr sz="4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Description using Black Box View &amp; or Layout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E59B3C-7FAE-43E5-BC18-270DFA54F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48374" y1="35444" x2="71545" y2="58222"/>
                        <a14:foregroundMark x1="50813" y1="32667" x2="34146" y2="53222"/>
                        <a14:foregroundMark x1="42547" y1="34667" x2="29133" y2="51222"/>
                        <a14:foregroundMark x1="45393" y1="34000" x2="39431" y2="58667"/>
                        <a14:foregroundMark x1="49864" y1="48778" x2="44309" y2="65556"/>
                        <a14:foregroundMark x1="58537" y1="50111" x2="58808" y2="64333"/>
                        <a14:foregroundMark x1="53523" y1="49222" x2="49458" y2="66333"/>
                        <a14:foregroundMark x1="54878" y1="60667" x2="51897" y2="66556"/>
                        <a14:foregroundMark x1="62466" y1="39667" x2="71409" y2="52000"/>
                        <a14:foregroundMark x1="34282" y1="56000" x2="39295" y2="61889"/>
                        <a14:foregroundMark x1="32385" y1="55556" x2="36992" y2="61222"/>
                        <a14:foregroundMark x1="36450" y1="56778" x2="37805" y2="61444"/>
                        <a14:foregroundMark x1="26829" y1="78222" x2="73306" y2="76667"/>
                        <a14:foregroundMark x1="26829" y1="74889" x2="60434" y2="70778"/>
                        <a14:foregroundMark x1="24797" y1="74778" x2="24797" y2="82556"/>
                        <a14:foregroundMark x1="22900" y1="76000" x2="21138" y2="78778"/>
                        <a14:foregroundMark x1="17886" y1="88889" x2="24255" y2="85444"/>
                        <a14:foregroundMark x1="27642" y1="83556" x2="35772" y2="82333"/>
                        <a14:foregroundMark x1="18022" y1="96556" x2="32520" y2="84000"/>
                        <a14:foregroundMark x1="10976" y1="91444" x2="18293" y2="87667"/>
                        <a14:foregroundMark x1="70732" y1="86556" x2="81436" y2="96667"/>
                        <a14:foregroundMark x1="74932" y1="85222" x2="84959" y2="93000"/>
                        <a14:foregroundMark x1="86450" y1="92667" x2="90108" y2="93222"/>
                        <a14:foregroundMark x1="71003" y1="72889" x2="77642" y2="81667"/>
                        <a14:foregroundMark x1="78049" y1="75222" x2="77371" y2="80778"/>
                        <a14:foregroundMark x1="16260" y1="87444" x2="16260" y2="86556"/>
                        <a14:foregroundMark x1="1084" y1="42222" x2="2304" y2="50556"/>
                        <a14:foregroundMark x1="2575" y1="4556" x2="1220" y2="42667"/>
                        <a14:foregroundMark x1="1491" y1="2333" x2="12466" y2="10111"/>
                        <a14:foregroundMark x1="18564" y1="10222" x2="37805" y2="7556"/>
                        <a14:foregroundMark x1="45122" y1="4889" x2="62060" y2="7222"/>
                        <a14:foregroundMark x1="73171" y1="9889" x2="89702" y2="9889"/>
                        <a14:foregroundMark x1="93089" y1="6889" x2="99322" y2="889"/>
                        <a14:foregroundMark x1="98238" y1="7556" x2="97967" y2="62889"/>
                        <a14:foregroundMark x1="89566" y1="76889" x2="96612" y2="66556"/>
                        <a14:foregroundMark x1="84011" y1="83000" x2="90108" y2="79556"/>
                        <a14:foregroundMark x1="70190" y1="85889" x2="66802" y2="84556"/>
                        <a14:foregroundMark x1="69106" y1="73222" x2="64092" y2="70667"/>
                        <a14:foregroundMark x1="57588" y1="69556" x2="47154" y2="69333"/>
                        <a14:foregroundMark x1="55285" y1="68333" x2="55285" y2="68778"/>
                        <a14:foregroundMark x1="31572" y1="93000" x2="49864" y2="99000"/>
                        <a14:foregroundMark x1="53794" y1="97889" x2="69512" y2="93222"/>
                        <a14:foregroundMark x1="1084" y1="54222" x2="3523" y2="64778"/>
                        <a14:foregroundMark x1="3930" y1="68778" x2="11518" y2="79000"/>
                        <a14:foregroundMark x1="14634" y1="81444" x2="17480" y2="84000"/>
                        <a14:foregroundMark x1="13279" y1="88778" x2="15447" y2="87667"/>
                        <a14:foregroundMark x1="9350" y1="92333" x2="9350" y2="92333"/>
                        <a14:foregroundMark x1="84959" y1="88889" x2="84959" y2="88889"/>
                        <a14:foregroundMark x1="87127" y1="90667" x2="87127" y2="90667"/>
                        <a14:foregroundMark x1="81301" y1="92000" x2="81301" y2="92000"/>
                        <a14:foregroundMark x1="81572" y1="94667" x2="81572" y2="94667"/>
                        <a14:foregroundMark x1="82385" y1="97222" x2="82385" y2="97222"/>
                        <a14:foregroundMark x1="80894" y1="97333" x2="80894" y2="97333"/>
                        <a14:foregroundMark x1="77642" y1="95000" x2="77642" y2="95000"/>
                        <a14:foregroundMark x1="22900" y1="93556" x2="22900" y2="93556"/>
                        <a14:foregroundMark x1="16125" y1="91000" x2="16125" y2="91000"/>
                        <a14:foregroundMark x1="17886" y1="93667" x2="17886" y2="93667"/>
                        <a14:foregroundMark x1="17209" y1="96889" x2="17209" y2="96889"/>
                        <a14:foregroundMark x1="12602" y1="91889" x2="12602" y2="91889"/>
                        <a14:backgroundMark x1="84417" y1="93000" x2="84417" y2="93000"/>
                        <a14:backgroundMark x1="86043" y1="94667" x2="84146" y2="92778"/>
                        <a14:backgroundMark x1="83062" y1="92667" x2="85366" y2="9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" y="101181"/>
            <a:ext cx="934278" cy="105015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B1459D1-3E2F-4D2E-BF16-F4A76CD96325}"/>
              </a:ext>
            </a:extLst>
          </p:cNvPr>
          <p:cNvSpPr/>
          <p:nvPr/>
        </p:nvSpPr>
        <p:spPr>
          <a:xfrm>
            <a:off x="0" y="0"/>
            <a:ext cx="274320" cy="6857999"/>
          </a:xfrm>
          <a:prstGeom prst="rect">
            <a:avLst/>
          </a:prstGeom>
          <a:solidFill>
            <a:srgbClr val="FF505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E2C1AD-5C2F-4FD9-9554-551E8B5E0C62}"/>
              </a:ext>
            </a:extLst>
          </p:cNvPr>
          <p:cNvSpPr txBox="1">
            <a:spLocks/>
          </p:cNvSpPr>
          <p:nvPr/>
        </p:nvSpPr>
        <p:spPr>
          <a:xfrm>
            <a:off x="274320" y="6575400"/>
            <a:ext cx="11917680" cy="2826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400" b="1" dirty="0">
                <a:solidFill>
                  <a:srgbClr val="92278F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Logic  Design – CIA PART  B  Presentation                                             Guided  by Mr. A. A. Barbind             Department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99436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326" y="282600"/>
            <a:ext cx="10594632" cy="939132"/>
          </a:xfrm>
        </p:spPr>
        <p:txBody>
          <a:bodyPr>
            <a:normAutofit/>
          </a:bodyPr>
          <a:lstStyle/>
          <a:p>
            <a:r>
              <a:rPr sz="4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Input &amp; Output Description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E59B3C-7FAE-43E5-BC18-270DFA54F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48374" y1="35444" x2="71545" y2="58222"/>
                        <a14:foregroundMark x1="50813" y1="32667" x2="34146" y2="53222"/>
                        <a14:foregroundMark x1="42547" y1="34667" x2="29133" y2="51222"/>
                        <a14:foregroundMark x1="45393" y1="34000" x2="39431" y2="58667"/>
                        <a14:foregroundMark x1="49864" y1="48778" x2="44309" y2="65556"/>
                        <a14:foregroundMark x1="58537" y1="50111" x2="58808" y2="64333"/>
                        <a14:foregroundMark x1="53523" y1="49222" x2="49458" y2="66333"/>
                        <a14:foregroundMark x1="54878" y1="60667" x2="51897" y2="66556"/>
                        <a14:foregroundMark x1="62466" y1="39667" x2="71409" y2="52000"/>
                        <a14:foregroundMark x1="34282" y1="56000" x2="39295" y2="61889"/>
                        <a14:foregroundMark x1="32385" y1="55556" x2="36992" y2="61222"/>
                        <a14:foregroundMark x1="36450" y1="56778" x2="37805" y2="61444"/>
                        <a14:foregroundMark x1="26829" y1="78222" x2="73306" y2="76667"/>
                        <a14:foregroundMark x1="26829" y1="74889" x2="60434" y2="70778"/>
                        <a14:foregroundMark x1="24797" y1="74778" x2="24797" y2="82556"/>
                        <a14:foregroundMark x1="22900" y1="76000" x2="21138" y2="78778"/>
                        <a14:foregroundMark x1="17886" y1="88889" x2="24255" y2="85444"/>
                        <a14:foregroundMark x1="27642" y1="83556" x2="35772" y2="82333"/>
                        <a14:foregroundMark x1="18022" y1="96556" x2="32520" y2="84000"/>
                        <a14:foregroundMark x1="10976" y1="91444" x2="18293" y2="87667"/>
                        <a14:foregroundMark x1="70732" y1="86556" x2="81436" y2="96667"/>
                        <a14:foregroundMark x1="74932" y1="85222" x2="84959" y2="93000"/>
                        <a14:foregroundMark x1="86450" y1="92667" x2="90108" y2="93222"/>
                        <a14:foregroundMark x1="71003" y1="72889" x2="77642" y2="81667"/>
                        <a14:foregroundMark x1="78049" y1="75222" x2="77371" y2="80778"/>
                        <a14:foregroundMark x1="16260" y1="87444" x2="16260" y2="86556"/>
                        <a14:foregroundMark x1="1084" y1="42222" x2="2304" y2="50556"/>
                        <a14:foregroundMark x1="2575" y1="4556" x2="1220" y2="42667"/>
                        <a14:foregroundMark x1="1491" y1="2333" x2="12466" y2="10111"/>
                        <a14:foregroundMark x1="18564" y1="10222" x2="37805" y2="7556"/>
                        <a14:foregroundMark x1="45122" y1="4889" x2="62060" y2="7222"/>
                        <a14:foregroundMark x1="73171" y1="9889" x2="89702" y2="9889"/>
                        <a14:foregroundMark x1="93089" y1="6889" x2="99322" y2="889"/>
                        <a14:foregroundMark x1="98238" y1="7556" x2="97967" y2="62889"/>
                        <a14:foregroundMark x1="89566" y1="76889" x2="96612" y2="66556"/>
                        <a14:foregroundMark x1="84011" y1="83000" x2="90108" y2="79556"/>
                        <a14:foregroundMark x1="70190" y1="85889" x2="66802" y2="84556"/>
                        <a14:foregroundMark x1="69106" y1="73222" x2="64092" y2="70667"/>
                        <a14:foregroundMark x1="57588" y1="69556" x2="47154" y2="69333"/>
                        <a14:foregroundMark x1="55285" y1="68333" x2="55285" y2="68778"/>
                        <a14:foregroundMark x1="31572" y1="93000" x2="49864" y2="99000"/>
                        <a14:foregroundMark x1="53794" y1="97889" x2="69512" y2="93222"/>
                        <a14:foregroundMark x1="1084" y1="54222" x2="3523" y2="64778"/>
                        <a14:foregroundMark x1="3930" y1="68778" x2="11518" y2="79000"/>
                        <a14:foregroundMark x1="14634" y1="81444" x2="17480" y2="84000"/>
                        <a14:foregroundMark x1="13279" y1="88778" x2="15447" y2="87667"/>
                        <a14:foregroundMark x1="9350" y1="92333" x2="9350" y2="92333"/>
                        <a14:foregroundMark x1="84959" y1="88889" x2="84959" y2="88889"/>
                        <a14:foregroundMark x1="87127" y1="90667" x2="87127" y2="90667"/>
                        <a14:foregroundMark x1="81301" y1="92000" x2="81301" y2="92000"/>
                        <a14:foregroundMark x1="81572" y1="94667" x2="81572" y2="94667"/>
                        <a14:foregroundMark x1="82385" y1="97222" x2="82385" y2="97222"/>
                        <a14:foregroundMark x1="80894" y1="97333" x2="80894" y2="97333"/>
                        <a14:foregroundMark x1="77642" y1="95000" x2="77642" y2="95000"/>
                        <a14:foregroundMark x1="22900" y1="93556" x2="22900" y2="93556"/>
                        <a14:foregroundMark x1="16125" y1="91000" x2="16125" y2="91000"/>
                        <a14:foregroundMark x1="17886" y1="93667" x2="17886" y2="93667"/>
                        <a14:foregroundMark x1="17209" y1="96889" x2="17209" y2="96889"/>
                        <a14:foregroundMark x1="12602" y1="91889" x2="12602" y2="91889"/>
                        <a14:backgroundMark x1="84417" y1="93000" x2="84417" y2="93000"/>
                        <a14:backgroundMark x1="86043" y1="94667" x2="84146" y2="92778"/>
                        <a14:backgroundMark x1="83062" y1="92667" x2="85366" y2="9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" y="101181"/>
            <a:ext cx="934278" cy="105015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B1459D1-3E2F-4D2E-BF16-F4A76CD96325}"/>
              </a:ext>
            </a:extLst>
          </p:cNvPr>
          <p:cNvSpPr/>
          <p:nvPr/>
        </p:nvSpPr>
        <p:spPr>
          <a:xfrm>
            <a:off x="0" y="0"/>
            <a:ext cx="274320" cy="6857999"/>
          </a:xfrm>
          <a:prstGeom prst="rect">
            <a:avLst/>
          </a:prstGeom>
          <a:solidFill>
            <a:srgbClr val="FF505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13" name="TextBox 2D 2">
            <a:extLst>
              <a:ext uri="{FF2B5EF4-FFF2-40B4-BE49-F238E27FC236}">
                <a16:creationId xmlns:a16="http://schemas.microsoft.com/office/drawing/2014/main" id="{37B18C6E-3C31-4549-ACEE-1E1E3FC41BCC}"/>
              </a:ext>
            </a:extLst>
          </p:cNvPr>
          <p:cNvSpPr txBox="1"/>
          <p:nvPr/>
        </p:nvSpPr>
        <p:spPr>
          <a:xfrm>
            <a:off x="351256" y="1332752"/>
            <a:ext cx="11563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447675" indent="-3429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&lt;Input1:&gt;</a:t>
            </a:r>
            <a:endParaRPr lang="en-IN" sz="3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5E2C1AD-5C2F-4FD9-9554-551E8B5E0C62}"/>
              </a:ext>
            </a:extLst>
          </p:cNvPr>
          <p:cNvSpPr txBox="1">
            <a:spLocks/>
          </p:cNvSpPr>
          <p:nvPr/>
        </p:nvSpPr>
        <p:spPr>
          <a:xfrm>
            <a:off x="274320" y="6575400"/>
            <a:ext cx="11917680" cy="2826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400" b="1" dirty="0">
                <a:solidFill>
                  <a:srgbClr val="92278F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Logic  Design – CIA PART  B  Presentation                                             Guided  by Mr. A. A. Barbind             Department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942966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326" y="282600"/>
            <a:ext cx="10594632" cy="939132"/>
          </a:xfrm>
        </p:spPr>
        <p:txBody>
          <a:bodyPr>
            <a:normAutofit/>
          </a:bodyPr>
          <a:lstStyle/>
          <a:p>
            <a:r>
              <a:rPr sz="4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Design of Proposed System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E59B3C-7FAE-43E5-BC18-270DFA54F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48374" y1="35444" x2="71545" y2="58222"/>
                        <a14:foregroundMark x1="50813" y1="32667" x2="34146" y2="53222"/>
                        <a14:foregroundMark x1="42547" y1="34667" x2="29133" y2="51222"/>
                        <a14:foregroundMark x1="45393" y1="34000" x2="39431" y2="58667"/>
                        <a14:foregroundMark x1="49864" y1="48778" x2="44309" y2="65556"/>
                        <a14:foregroundMark x1="58537" y1="50111" x2="58808" y2="64333"/>
                        <a14:foregroundMark x1="53523" y1="49222" x2="49458" y2="66333"/>
                        <a14:foregroundMark x1="54878" y1="60667" x2="51897" y2="66556"/>
                        <a14:foregroundMark x1="62466" y1="39667" x2="71409" y2="52000"/>
                        <a14:foregroundMark x1="34282" y1="56000" x2="39295" y2="61889"/>
                        <a14:foregroundMark x1="32385" y1="55556" x2="36992" y2="61222"/>
                        <a14:foregroundMark x1="36450" y1="56778" x2="37805" y2="61444"/>
                        <a14:foregroundMark x1="26829" y1="78222" x2="73306" y2="76667"/>
                        <a14:foregroundMark x1="26829" y1="74889" x2="60434" y2="70778"/>
                        <a14:foregroundMark x1="24797" y1="74778" x2="24797" y2="82556"/>
                        <a14:foregroundMark x1="22900" y1="76000" x2="21138" y2="78778"/>
                        <a14:foregroundMark x1="17886" y1="88889" x2="24255" y2="85444"/>
                        <a14:foregroundMark x1="27642" y1="83556" x2="35772" y2="82333"/>
                        <a14:foregroundMark x1="18022" y1="96556" x2="32520" y2="84000"/>
                        <a14:foregroundMark x1="10976" y1="91444" x2="18293" y2="87667"/>
                        <a14:foregroundMark x1="70732" y1="86556" x2="81436" y2="96667"/>
                        <a14:foregroundMark x1="74932" y1="85222" x2="84959" y2="93000"/>
                        <a14:foregroundMark x1="86450" y1="92667" x2="90108" y2="93222"/>
                        <a14:foregroundMark x1="71003" y1="72889" x2="77642" y2="81667"/>
                        <a14:foregroundMark x1="78049" y1="75222" x2="77371" y2="80778"/>
                        <a14:foregroundMark x1="16260" y1="87444" x2="16260" y2="86556"/>
                        <a14:foregroundMark x1="1084" y1="42222" x2="2304" y2="50556"/>
                        <a14:foregroundMark x1="2575" y1="4556" x2="1220" y2="42667"/>
                        <a14:foregroundMark x1="1491" y1="2333" x2="12466" y2="10111"/>
                        <a14:foregroundMark x1="18564" y1="10222" x2="37805" y2="7556"/>
                        <a14:foregroundMark x1="45122" y1="4889" x2="62060" y2="7222"/>
                        <a14:foregroundMark x1="73171" y1="9889" x2="89702" y2="9889"/>
                        <a14:foregroundMark x1="93089" y1="6889" x2="99322" y2="889"/>
                        <a14:foregroundMark x1="98238" y1="7556" x2="97967" y2="62889"/>
                        <a14:foregroundMark x1="89566" y1="76889" x2="96612" y2="66556"/>
                        <a14:foregroundMark x1="84011" y1="83000" x2="90108" y2="79556"/>
                        <a14:foregroundMark x1="70190" y1="85889" x2="66802" y2="84556"/>
                        <a14:foregroundMark x1="69106" y1="73222" x2="64092" y2="70667"/>
                        <a14:foregroundMark x1="57588" y1="69556" x2="47154" y2="69333"/>
                        <a14:foregroundMark x1="55285" y1="68333" x2="55285" y2="68778"/>
                        <a14:foregroundMark x1="31572" y1="93000" x2="49864" y2="99000"/>
                        <a14:foregroundMark x1="53794" y1="97889" x2="69512" y2="93222"/>
                        <a14:foregroundMark x1="1084" y1="54222" x2="3523" y2="64778"/>
                        <a14:foregroundMark x1="3930" y1="68778" x2="11518" y2="79000"/>
                        <a14:foregroundMark x1="14634" y1="81444" x2="17480" y2="84000"/>
                        <a14:foregroundMark x1="13279" y1="88778" x2="15447" y2="87667"/>
                        <a14:foregroundMark x1="9350" y1="92333" x2="9350" y2="92333"/>
                        <a14:foregroundMark x1="84959" y1="88889" x2="84959" y2="88889"/>
                        <a14:foregroundMark x1="87127" y1="90667" x2="87127" y2="90667"/>
                        <a14:foregroundMark x1="81301" y1="92000" x2="81301" y2="92000"/>
                        <a14:foregroundMark x1="81572" y1="94667" x2="81572" y2="94667"/>
                        <a14:foregroundMark x1="82385" y1="97222" x2="82385" y2="97222"/>
                        <a14:foregroundMark x1="80894" y1="97333" x2="80894" y2="97333"/>
                        <a14:foregroundMark x1="77642" y1="95000" x2="77642" y2="95000"/>
                        <a14:foregroundMark x1="22900" y1="93556" x2="22900" y2="93556"/>
                        <a14:foregroundMark x1="16125" y1="91000" x2="16125" y2="91000"/>
                        <a14:foregroundMark x1="17886" y1="93667" x2="17886" y2="93667"/>
                        <a14:foregroundMark x1="17209" y1="96889" x2="17209" y2="96889"/>
                        <a14:foregroundMark x1="12602" y1="91889" x2="12602" y2="91889"/>
                        <a14:backgroundMark x1="84417" y1="93000" x2="84417" y2="93000"/>
                        <a14:backgroundMark x1="86043" y1="94667" x2="84146" y2="92778"/>
                        <a14:backgroundMark x1="83062" y1="92667" x2="85366" y2="9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" y="101181"/>
            <a:ext cx="934278" cy="105015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B1459D1-3E2F-4D2E-BF16-F4A76CD96325}"/>
              </a:ext>
            </a:extLst>
          </p:cNvPr>
          <p:cNvSpPr/>
          <p:nvPr/>
        </p:nvSpPr>
        <p:spPr>
          <a:xfrm>
            <a:off x="0" y="0"/>
            <a:ext cx="274320" cy="6857999"/>
          </a:xfrm>
          <a:prstGeom prst="rect">
            <a:avLst/>
          </a:prstGeom>
          <a:solidFill>
            <a:srgbClr val="FF505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13" name="TextBox 2D 2">
            <a:extLst>
              <a:ext uri="{FF2B5EF4-FFF2-40B4-BE49-F238E27FC236}">
                <a16:creationId xmlns:a16="http://schemas.microsoft.com/office/drawing/2014/main" id="{37B18C6E-3C31-4549-ACEE-1E1E3FC41BCC}"/>
              </a:ext>
            </a:extLst>
          </p:cNvPr>
          <p:cNvSpPr txBox="1"/>
          <p:nvPr/>
        </p:nvSpPr>
        <p:spPr>
          <a:xfrm>
            <a:off x="351256" y="1332752"/>
            <a:ext cx="11563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447675" indent="-3429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&lt;Neat and good visibility diagram&gt;</a:t>
            </a:r>
            <a:endParaRPr lang="en-IN" sz="3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5E2C1AD-5C2F-4FD9-9554-551E8B5E0C62}"/>
              </a:ext>
            </a:extLst>
          </p:cNvPr>
          <p:cNvSpPr txBox="1">
            <a:spLocks/>
          </p:cNvSpPr>
          <p:nvPr/>
        </p:nvSpPr>
        <p:spPr>
          <a:xfrm>
            <a:off x="274320" y="6575400"/>
            <a:ext cx="11917680" cy="2826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400" b="1" dirty="0">
                <a:solidFill>
                  <a:srgbClr val="92278F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Logic  Design – CIA PART  B  Presentation                                             Guided  by Mr. A. A. Barbind             Department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650703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326" y="282600"/>
            <a:ext cx="10594632" cy="9391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Results/Snaps of Simulation</a:t>
            </a:r>
          </a:p>
        </p:txBody>
      </p:sp>
      <p:sp>
        <p:nvSpPr>
          <p:cNvPr id="12" name="TextBox 2D 2">
            <a:extLst>
              <a:ext uri="{FF2B5EF4-FFF2-40B4-BE49-F238E27FC236}">
                <a16:creationId xmlns:a16="http://schemas.microsoft.com/office/drawing/2014/main" id="{37B18C6E-3C31-4549-ACEE-1E1E3FC41BCC}"/>
              </a:ext>
            </a:extLst>
          </p:cNvPr>
          <p:cNvSpPr txBox="1"/>
          <p:nvPr/>
        </p:nvSpPr>
        <p:spPr>
          <a:xfrm>
            <a:off x="351256" y="1332752"/>
            <a:ext cx="11563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447675" indent="-342900"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&lt;Result snaps for various inputs&gt;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E59B3C-7FAE-43E5-BC18-270DFA54F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48374" y1="35444" x2="71545" y2="58222"/>
                        <a14:foregroundMark x1="50813" y1="32667" x2="34146" y2="53222"/>
                        <a14:foregroundMark x1="42547" y1="34667" x2="29133" y2="51222"/>
                        <a14:foregroundMark x1="45393" y1="34000" x2="39431" y2="58667"/>
                        <a14:foregroundMark x1="49864" y1="48778" x2="44309" y2="65556"/>
                        <a14:foregroundMark x1="58537" y1="50111" x2="58808" y2="64333"/>
                        <a14:foregroundMark x1="53523" y1="49222" x2="49458" y2="66333"/>
                        <a14:foregroundMark x1="54878" y1="60667" x2="51897" y2="66556"/>
                        <a14:foregroundMark x1="62466" y1="39667" x2="71409" y2="52000"/>
                        <a14:foregroundMark x1="34282" y1="56000" x2="39295" y2="61889"/>
                        <a14:foregroundMark x1="32385" y1="55556" x2="36992" y2="61222"/>
                        <a14:foregroundMark x1="36450" y1="56778" x2="37805" y2="61444"/>
                        <a14:foregroundMark x1="26829" y1="78222" x2="73306" y2="76667"/>
                        <a14:foregroundMark x1="26829" y1="74889" x2="60434" y2="70778"/>
                        <a14:foregroundMark x1="24797" y1="74778" x2="24797" y2="82556"/>
                        <a14:foregroundMark x1="22900" y1="76000" x2="21138" y2="78778"/>
                        <a14:foregroundMark x1="17886" y1="88889" x2="24255" y2="85444"/>
                        <a14:foregroundMark x1="27642" y1="83556" x2="35772" y2="82333"/>
                        <a14:foregroundMark x1="18022" y1="96556" x2="32520" y2="84000"/>
                        <a14:foregroundMark x1="10976" y1="91444" x2="18293" y2="87667"/>
                        <a14:foregroundMark x1="70732" y1="86556" x2="81436" y2="96667"/>
                        <a14:foregroundMark x1="74932" y1="85222" x2="84959" y2="93000"/>
                        <a14:foregroundMark x1="86450" y1="92667" x2="90108" y2="93222"/>
                        <a14:foregroundMark x1="71003" y1="72889" x2="77642" y2="81667"/>
                        <a14:foregroundMark x1="78049" y1="75222" x2="77371" y2="80778"/>
                        <a14:foregroundMark x1="16260" y1="87444" x2="16260" y2="86556"/>
                        <a14:foregroundMark x1="1084" y1="42222" x2="2304" y2="50556"/>
                        <a14:foregroundMark x1="2575" y1="4556" x2="1220" y2="42667"/>
                        <a14:foregroundMark x1="1491" y1="2333" x2="12466" y2="10111"/>
                        <a14:foregroundMark x1="18564" y1="10222" x2="37805" y2="7556"/>
                        <a14:foregroundMark x1="45122" y1="4889" x2="62060" y2="7222"/>
                        <a14:foregroundMark x1="73171" y1="9889" x2="89702" y2="9889"/>
                        <a14:foregroundMark x1="93089" y1="6889" x2="99322" y2="889"/>
                        <a14:foregroundMark x1="98238" y1="7556" x2="97967" y2="62889"/>
                        <a14:foregroundMark x1="89566" y1="76889" x2="96612" y2="66556"/>
                        <a14:foregroundMark x1="84011" y1="83000" x2="90108" y2="79556"/>
                        <a14:foregroundMark x1="70190" y1="85889" x2="66802" y2="84556"/>
                        <a14:foregroundMark x1="69106" y1="73222" x2="64092" y2="70667"/>
                        <a14:foregroundMark x1="57588" y1="69556" x2="47154" y2="69333"/>
                        <a14:foregroundMark x1="55285" y1="68333" x2="55285" y2="68778"/>
                        <a14:foregroundMark x1="31572" y1="93000" x2="49864" y2="99000"/>
                        <a14:foregroundMark x1="53794" y1="97889" x2="69512" y2="93222"/>
                        <a14:foregroundMark x1="1084" y1="54222" x2="3523" y2="64778"/>
                        <a14:foregroundMark x1="3930" y1="68778" x2="11518" y2="79000"/>
                        <a14:foregroundMark x1="14634" y1="81444" x2="17480" y2="84000"/>
                        <a14:foregroundMark x1="13279" y1="88778" x2="15447" y2="87667"/>
                        <a14:foregroundMark x1="9350" y1="92333" x2="9350" y2="92333"/>
                        <a14:foregroundMark x1="84959" y1="88889" x2="84959" y2="88889"/>
                        <a14:foregroundMark x1="87127" y1="90667" x2="87127" y2="90667"/>
                        <a14:foregroundMark x1="81301" y1="92000" x2="81301" y2="92000"/>
                        <a14:foregroundMark x1="81572" y1="94667" x2="81572" y2="94667"/>
                        <a14:foregroundMark x1="82385" y1="97222" x2="82385" y2="97222"/>
                        <a14:foregroundMark x1="80894" y1="97333" x2="80894" y2="97333"/>
                        <a14:foregroundMark x1="77642" y1="95000" x2="77642" y2="95000"/>
                        <a14:foregroundMark x1="22900" y1="93556" x2="22900" y2="93556"/>
                        <a14:foregroundMark x1="16125" y1="91000" x2="16125" y2="91000"/>
                        <a14:foregroundMark x1="17886" y1="93667" x2="17886" y2="93667"/>
                        <a14:foregroundMark x1="17209" y1="96889" x2="17209" y2="96889"/>
                        <a14:foregroundMark x1="12602" y1="91889" x2="12602" y2="91889"/>
                        <a14:backgroundMark x1="84417" y1="93000" x2="84417" y2="93000"/>
                        <a14:backgroundMark x1="86043" y1="94667" x2="84146" y2="92778"/>
                        <a14:backgroundMark x1="83062" y1="92667" x2="85366" y2="9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" y="101181"/>
            <a:ext cx="934278" cy="105015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B1459D1-3E2F-4D2E-BF16-F4A76CD96325}"/>
              </a:ext>
            </a:extLst>
          </p:cNvPr>
          <p:cNvSpPr/>
          <p:nvPr/>
        </p:nvSpPr>
        <p:spPr>
          <a:xfrm>
            <a:off x="0" y="0"/>
            <a:ext cx="274320" cy="6857999"/>
          </a:xfrm>
          <a:prstGeom prst="rect">
            <a:avLst/>
          </a:prstGeom>
          <a:solidFill>
            <a:srgbClr val="FF505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5E2C1AD-5C2F-4FD9-9554-551E8B5E0C62}"/>
              </a:ext>
            </a:extLst>
          </p:cNvPr>
          <p:cNvSpPr txBox="1">
            <a:spLocks/>
          </p:cNvSpPr>
          <p:nvPr/>
        </p:nvSpPr>
        <p:spPr>
          <a:xfrm>
            <a:off x="274320" y="6575400"/>
            <a:ext cx="11917680" cy="2826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400" b="1" dirty="0">
                <a:solidFill>
                  <a:srgbClr val="92278F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Logic  Design – CIA PART  B  Presentation                                             Guided  by Mr. A. A. Barbind             Department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524240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326" y="282600"/>
            <a:ext cx="10594632" cy="9391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2" name="TextBox 2D 2">
            <a:extLst>
              <a:ext uri="{FF2B5EF4-FFF2-40B4-BE49-F238E27FC236}">
                <a16:creationId xmlns:a16="http://schemas.microsoft.com/office/drawing/2014/main" id="{37B18C6E-3C31-4549-ACEE-1E1E3FC41BCC}"/>
              </a:ext>
            </a:extLst>
          </p:cNvPr>
          <p:cNvSpPr txBox="1"/>
          <p:nvPr/>
        </p:nvSpPr>
        <p:spPr>
          <a:xfrm>
            <a:off x="351256" y="1332752"/>
            <a:ext cx="11563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447675" indent="-342900"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&lt;Conclusion statements&gt;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E59B3C-7FAE-43E5-BC18-270DFA54F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48374" y1="35444" x2="71545" y2="58222"/>
                        <a14:foregroundMark x1="50813" y1="32667" x2="34146" y2="53222"/>
                        <a14:foregroundMark x1="42547" y1="34667" x2="29133" y2="51222"/>
                        <a14:foregroundMark x1="45393" y1="34000" x2="39431" y2="58667"/>
                        <a14:foregroundMark x1="49864" y1="48778" x2="44309" y2="65556"/>
                        <a14:foregroundMark x1="58537" y1="50111" x2="58808" y2="64333"/>
                        <a14:foregroundMark x1="53523" y1="49222" x2="49458" y2="66333"/>
                        <a14:foregroundMark x1="54878" y1="60667" x2="51897" y2="66556"/>
                        <a14:foregroundMark x1="62466" y1="39667" x2="71409" y2="52000"/>
                        <a14:foregroundMark x1="34282" y1="56000" x2="39295" y2="61889"/>
                        <a14:foregroundMark x1="32385" y1="55556" x2="36992" y2="61222"/>
                        <a14:foregroundMark x1="36450" y1="56778" x2="37805" y2="61444"/>
                        <a14:foregroundMark x1="26829" y1="78222" x2="73306" y2="76667"/>
                        <a14:foregroundMark x1="26829" y1="74889" x2="60434" y2="70778"/>
                        <a14:foregroundMark x1="24797" y1="74778" x2="24797" y2="82556"/>
                        <a14:foregroundMark x1="22900" y1="76000" x2="21138" y2="78778"/>
                        <a14:foregroundMark x1="17886" y1="88889" x2="24255" y2="85444"/>
                        <a14:foregroundMark x1="27642" y1="83556" x2="35772" y2="82333"/>
                        <a14:foregroundMark x1="18022" y1="96556" x2="32520" y2="84000"/>
                        <a14:foregroundMark x1="10976" y1="91444" x2="18293" y2="87667"/>
                        <a14:foregroundMark x1="70732" y1="86556" x2="81436" y2="96667"/>
                        <a14:foregroundMark x1="74932" y1="85222" x2="84959" y2="93000"/>
                        <a14:foregroundMark x1="86450" y1="92667" x2="90108" y2="93222"/>
                        <a14:foregroundMark x1="71003" y1="72889" x2="77642" y2="81667"/>
                        <a14:foregroundMark x1="78049" y1="75222" x2="77371" y2="80778"/>
                        <a14:foregroundMark x1="16260" y1="87444" x2="16260" y2="86556"/>
                        <a14:foregroundMark x1="1084" y1="42222" x2="2304" y2="50556"/>
                        <a14:foregroundMark x1="2575" y1="4556" x2="1220" y2="42667"/>
                        <a14:foregroundMark x1="1491" y1="2333" x2="12466" y2="10111"/>
                        <a14:foregroundMark x1="18564" y1="10222" x2="37805" y2="7556"/>
                        <a14:foregroundMark x1="45122" y1="4889" x2="62060" y2="7222"/>
                        <a14:foregroundMark x1="73171" y1="9889" x2="89702" y2="9889"/>
                        <a14:foregroundMark x1="93089" y1="6889" x2="99322" y2="889"/>
                        <a14:foregroundMark x1="98238" y1="7556" x2="97967" y2="62889"/>
                        <a14:foregroundMark x1="89566" y1="76889" x2="96612" y2="66556"/>
                        <a14:foregroundMark x1="84011" y1="83000" x2="90108" y2="79556"/>
                        <a14:foregroundMark x1="70190" y1="85889" x2="66802" y2="84556"/>
                        <a14:foregroundMark x1="69106" y1="73222" x2="64092" y2="70667"/>
                        <a14:foregroundMark x1="57588" y1="69556" x2="47154" y2="69333"/>
                        <a14:foregroundMark x1="55285" y1="68333" x2="55285" y2="68778"/>
                        <a14:foregroundMark x1="31572" y1="93000" x2="49864" y2="99000"/>
                        <a14:foregroundMark x1="53794" y1="97889" x2="69512" y2="93222"/>
                        <a14:foregroundMark x1="1084" y1="54222" x2="3523" y2="64778"/>
                        <a14:foregroundMark x1="3930" y1="68778" x2="11518" y2="79000"/>
                        <a14:foregroundMark x1="14634" y1="81444" x2="17480" y2="84000"/>
                        <a14:foregroundMark x1="13279" y1="88778" x2="15447" y2="87667"/>
                        <a14:foregroundMark x1="9350" y1="92333" x2="9350" y2="92333"/>
                        <a14:foregroundMark x1="84959" y1="88889" x2="84959" y2="88889"/>
                        <a14:foregroundMark x1="87127" y1="90667" x2="87127" y2="90667"/>
                        <a14:foregroundMark x1="81301" y1="92000" x2="81301" y2="92000"/>
                        <a14:foregroundMark x1="81572" y1="94667" x2="81572" y2="94667"/>
                        <a14:foregroundMark x1="82385" y1="97222" x2="82385" y2="97222"/>
                        <a14:foregroundMark x1="80894" y1="97333" x2="80894" y2="97333"/>
                        <a14:foregroundMark x1="77642" y1="95000" x2="77642" y2="95000"/>
                        <a14:foregroundMark x1="22900" y1="93556" x2="22900" y2="93556"/>
                        <a14:foregroundMark x1="16125" y1="91000" x2="16125" y2="91000"/>
                        <a14:foregroundMark x1="17886" y1="93667" x2="17886" y2="93667"/>
                        <a14:foregroundMark x1="17209" y1="96889" x2="17209" y2="96889"/>
                        <a14:foregroundMark x1="12602" y1="91889" x2="12602" y2="91889"/>
                        <a14:backgroundMark x1="84417" y1="93000" x2="84417" y2="93000"/>
                        <a14:backgroundMark x1="86043" y1="94667" x2="84146" y2="92778"/>
                        <a14:backgroundMark x1="83062" y1="92667" x2="85366" y2="9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" y="101181"/>
            <a:ext cx="934278" cy="105015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B1459D1-3E2F-4D2E-BF16-F4A76CD96325}"/>
              </a:ext>
            </a:extLst>
          </p:cNvPr>
          <p:cNvSpPr/>
          <p:nvPr/>
        </p:nvSpPr>
        <p:spPr>
          <a:xfrm>
            <a:off x="0" y="0"/>
            <a:ext cx="274320" cy="6857999"/>
          </a:xfrm>
          <a:prstGeom prst="rect">
            <a:avLst/>
          </a:prstGeom>
          <a:solidFill>
            <a:srgbClr val="FF505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5E2C1AD-5C2F-4FD9-9554-551E8B5E0C62}"/>
              </a:ext>
            </a:extLst>
          </p:cNvPr>
          <p:cNvSpPr txBox="1">
            <a:spLocks/>
          </p:cNvSpPr>
          <p:nvPr/>
        </p:nvSpPr>
        <p:spPr>
          <a:xfrm>
            <a:off x="274320" y="6575400"/>
            <a:ext cx="11917680" cy="2826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400" b="1" dirty="0">
                <a:solidFill>
                  <a:srgbClr val="92278F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Logic  Design – CIA PART  B  Presentation                                             Guided  by Mr. A. A. Barbind             Department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4058253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326" y="282600"/>
            <a:ext cx="10594632" cy="939132"/>
          </a:xfrm>
        </p:spPr>
        <p:txBody>
          <a:bodyPr>
            <a:normAutofit/>
          </a:bodyPr>
          <a:lstStyle/>
          <a:p>
            <a:r>
              <a:rPr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 to Literature and Tools</a:t>
            </a:r>
            <a:endParaRPr lang="en-I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2D 2">
            <a:extLst>
              <a:ext uri="{FF2B5EF4-FFF2-40B4-BE49-F238E27FC236}">
                <a16:creationId xmlns:a16="http://schemas.microsoft.com/office/drawing/2014/main" id="{37B18C6E-3C31-4549-ACEE-1E1E3FC41BCC}"/>
              </a:ext>
            </a:extLst>
          </p:cNvPr>
          <p:cNvSpPr txBox="1"/>
          <p:nvPr/>
        </p:nvSpPr>
        <p:spPr>
          <a:xfrm>
            <a:off x="351256" y="1332752"/>
            <a:ext cx="115633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619125" indent="-514350">
              <a:buFont typeface="+mj-lt"/>
              <a:buAutoNum type="arabicPeriod"/>
            </a:pPr>
            <a:r>
              <a:rPr lang="en-I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&lt;Reference 1&gt;</a:t>
            </a:r>
          </a:p>
          <a:p>
            <a:pPr marL="619125" indent="-514350">
              <a:buFont typeface="+mj-lt"/>
              <a:buAutoNum type="arabicPeriod"/>
            </a:pPr>
            <a:r>
              <a:rPr lang="en-I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&lt;Reference 2&gt;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E59B3C-7FAE-43E5-BC18-270DFA54F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48374" y1="35444" x2="71545" y2="58222"/>
                        <a14:foregroundMark x1="50813" y1="32667" x2="34146" y2="53222"/>
                        <a14:foregroundMark x1="42547" y1="34667" x2="29133" y2="51222"/>
                        <a14:foregroundMark x1="45393" y1="34000" x2="39431" y2="58667"/>
                        <a14:foregroundMark x1="49864" y1="48778" x2="44309" y2="65556"/>
                        <a14:foregroundMark x1="58537" y1="50111" x2="58808" y2="64333"/>
                        <a14:foregroundMark x1="53523" y1="49222" x2="49458" y2="66333"/>
                        <a14:foregroundMark x1="54878" y1="60667" x2="51897" y2="66556"/>
                        <a14:foregroundMark x1="62466" y1="39667" x2="71409" y2="52000"/>
                        <a14:foregroundMark x1="34282" y1="56000" x2="39295" y2="61889"/>
                        <a14:foregroundMark x1="32385" y1="55556" x2="36992" y2="61222"/>
                        <a14:foregroundMark x1="36450" y1="56778" x2="37805" y2="61444"/>
                        <a14:foregroundMark x1="26829" y1="78222" x2="73306" y2="76667"/>
                        <a14:foregroundMark x1="26829" y1="74889" x2="60434" y2="70778"/>
                        <a14:foregroundMark x1="24797" y1="74778" x2="24797" y2="82556"/>
                        <a14:foregroundMark x1="22900" y1="76000" x2="21138" y2="78778"/>
                        <a14:foregroundMark x1="17886" y1="88889" x2="24255" y2="85444"/>
                        <a14:foregroundMark x1="27642" y1="83556" x2="35772" y2="82333"/>
                        <a14:foregroundMark x1="18022" y1="96556" x2="32520" y2="84000"/>
                        <a14:foregroundMark x1="10976" y1="91444" x2="18293" y2="87667"/>
                        <a14:foregroundMark x1="70732" y1="86556" x2="81436" y2="96667"/>
                        <a14:foregroundMark x1="74932" y1="85222" x2="84959" y2="93000"/>
                        <a14:foregroundMark x1="86450" y1="92667" x2="90108" y2="93222"/>
                        <a14:foregroundMark x1="71003" y1="72889" x2="77642" y2="81667"/>
                        <a14:foregroundMark x1="78049" y1="75222" x2="77371" y2="80778"/>
                        <a14:foregroundMark x1="16260" y1="87444" x2="16260" y2="86556"/>
                        <a14:foregroundMark x1="1084" y1="42222" x2="2304" y2="50556"/>
                        <a14:foregroundMark x1="2575" y1="4556" x2="1220" y2="42667"/>
                        <a14:foregroundMark x1="1491" y1="2333" x2="12466" y2="10111"/>
                        <a14:foregroundMark x1="18564" y1="10222" x2="37805" y2="7556"/>
                        <a14:foregroundMark x1="45122" y1="4889" x2="62060" y2="7222"/>
                        <a14:foregroundMark x1="73171" y1="9889" x2="89702" y2="9889"/>
                        <a14:foregroundMark x1="93089" y1="6889" x2="99322" y2="889"/>
                        <a14:foregroundMark x1="98238" y1="7556" x2="97967" y2="62889"/>
                        <a14:foregroundMark x1="89566" y1="76889" x2="96612" y2="66556"/>
                        <a14:foregroundMark x1="84011" y1="83000" x2="90108" y2="79556"/>
                        <a14:foregroundMark x1="70190" y1="85889" x2="66802" y2="84556"/>
                        <a14:foregroundMark x1="69106" y1="73222" x2="64092" y2="70667"/>
                        <a14:foregroundMark x1="57588" y1="69556" x2="47154" y2="69333"/>
                        <a14:foregroundMark x1="55285" y1="68333" x2="55285" y2="68778"/>
                        <a14:foregroundMark x1="31572" y1="93000" x2="49864" y2="99000"/>
                        <a14:foregroundMark x1="53794" y1="97889" x2="69512" y2="93222"/>
                        <a14:foregroundMark x1="1084" y1="54222" x2="3523" y2="64778"/>
                        <a14:foregroundMark x1="3930" y1="68778" x2="11518" y2="79000"/>
                        <a14:foregroundMark x1="14634" y1="81444" x2="17480" y2="84000"/>
                        <a14:foregroundMark x1="13279" y1="88778" x2="15447" y2="87667"/>
                        <a14:foregroundMark x1="9350" y1="92333" x2="9350" y2="92333"/>
                        <a14:foregroundMark x1="84959" y1="88889" x2="84959" y2="88889"/>
                        <a14:foregroundMark x1="87127" y1="90667" x2="87127" y2="90667"/>
                        <a14:foregroundMark x1="81301" y1="92000" x2="81301" y2="92000"/>
                        <a14:foregroundMark x1="81572" y1="94667" x2="81572" y2="94667"/>
                        <a14:foregroundMark x1="82385" y1="97222" x2="82385" y2="97222"/>
                        <a14:foregroundMark x1="80894" y1="97333" x2="80894" y2="97333"/>
                        <a14:foregroundMark x1="77642" y1="95000" x2="77642" y2="95000"/>
                        <a14:foregroundMark x1="22900" y1="93556" x2="22900" y2="93556"/>
                        <a14:foregroundMark x1="16125" y1="91000" x2="16125" y2="91000"/>
                        <a14:foregroundMark x1="17886" y1="93667" x2="17886" y2="93667"/>
                        <a14:foregroundMark x1="17209" y1="96889" x2="17209" y2="96889"/>
                        <a14:foregroundMark x1="12602" y1="91889" x2="12602" y2="91889"/>
                        <a14:backgroundMark x1="84417" y1="93000" x2="84417" y2="93000"/>
                        <a14:backgroundMark x1="86043" y1="94667" x2="84146" y2="92778"/>
                        <a14:backgroundMark x1="83062" y1="92667" x2="85366" y2="9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" y="101181"/>
            <a:ext cx="934278" cy="105015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B1459D1-3E2F-4D2E-BF16-F4A76CD96325}"/>
              </a:ext>
            </a:extLst>
          </p:cNvPr>
          <p:cNvSpPr/>
          <p:nvPr/>
        </p:nvSpPr>
        <p:spPr>
          <a:xfrm>
            <a:off x="0" y="0"/>
            <a:ext cx="274320" cy="6857999"/>
          </a:xfrm>
          <a:prstGeom prst="rect">
            <a:avLst/>
          </a:prstGeom>
          <a:solidFill>
            <a:srgbClr val="FF505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5E2C1AD-5C2F-4FD9-9554-551E8B5E0C62}"/>
              </a:ext>
            </a:extLst>
          </p:cNvPr>
          <p:cNvSpPr txBox="1">
            <a:spLocks/>
          </p:cNvSpPr>
          <p:nvPr/>
        </p:nvSpPr>
        <p:spPr>
          <a:xfrm>
            <a:off x="274320" y="6575400"/>
            <a:ext cx="11917680" cy="2826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400" b="1" dirty="0">
                <a:solidFill>
                  <a:srgbClr val="92278F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Logic  Design – CIA PART  B  Presentation                                             Guided  by Mr. A. A. Barbind             Department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880297538"/>
      </p:ext>
    </p:extLst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" id="{59065FFD-95A5-4387-9888-595CD54FE3CE}" vid="{8A46A32C-1227-47D7-A4C8-360887988CE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384</Words>
  <Application>Microsoft Office PowerPoint</Application>
  <PresentationFormat>Widescreen</PresentationFormat>
  <Paragraphs>55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Get Started with 3D</vt:lpstr>
      <vt:lpstr>Digital Logic Design</vt:lpstr>
      <vt:lpstr>Continuous Internal Assessment Part B Presentation</vt:lpstr>
      <vt:lpstr>Problem statement</vt:lpstr>
      <vt:lpstr>Need/Usefulness of Proposed Digital System</vt:lpstr>
      <vt:lpstr>Proposed System Description using Black Box View &amp; or Layout</vt:lpstr>
      <vt:lpstr>Input &amp; Output Description</vt:lpstr>
      <vt:lpstr>Design of Proposed System</vt:lpstr>
      <vt:lpstr>Results/Snaps of Simulation</vt:lpstr>
      <vt:lpstr>Conclusion</vt:lpstr>
      <vt:lpstr>References to Literature and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</dc:title>
  <dc:creator/>
  <cp:lastModifiedBy>Shraddha Wakchaure</cp:lastModifiedBy>
  <cp:revision>2</cp:revision>
  <dcterms:created xsi:type="dcterms:W3CDTF">2020-04-02T07:08:20Z</dcterms:created>
  <dcterms:modified xsi:type="dcterms:W3CDTF">2024-11-06T11:00:46Z</dcterms:modified>
</cp:coreProperties>
</file>